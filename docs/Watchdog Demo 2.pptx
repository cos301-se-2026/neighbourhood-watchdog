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B981"/>
    <a:srgbClr val="1E1E1E"/>
    <a:srgbClr val="14141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>
      <p:cViewPr>
        <p:scale>
          <a:sx n="84" d="100"/>
          <a:sy n="84" d="100"/>
        </p:scale>
        <p:origin x="154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9179-EDA3-91EE-15D3-9B992DE75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66500-C49C-CA3A-A3E9-6168A779BA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E904E-49B6-81D0-4085-E2ADB1563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8B1CB-3B60-2A06-B5AC-995BE1DA6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B9D0F-9277-E720-B6A8-E9CB6E63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48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1D43E-D1E5-A8BC-9D55-CD246A6B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C9C60-F1CD-17FE-533B-E44BF74C4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8AFCC-B5FC-C061-F94A-E26BDE02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86A1D-C28E-207F-BA61-A7B3D5BB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ED97C-E9F9-05DA-5BBA-84A0B1F11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19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749F-95F4-D8D5-9015-F525B81F1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31636-0328-EA75-2536-1E1ABADAE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7126F-DCBD-5FE9-F75E-5BA879F4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E4C44-793B-854D-36C8-A785543C8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B3AFE-D7DA-E45A-1E89-4BF0B9BE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10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46D8-8961-0AC9-71E4-BBEBF5DE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FAB3-F268-DAAF-9764-DA8DC42CB1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BA573-D31E-DCE7-230A-2D0BF3D40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339A4-D805-49E6-3CC8-016A3BD5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95A35-F5F1-BB1A-3E45-C0D5F07F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3114C-B43B-A560-AD35-42B2DF80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1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D7F3-3D39-FAB0-833B-AB8BB540C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08064-248D-3278-6552-0133E1886C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8C6D9-CAF5-F2ED-28C1-CA26CC845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1D6E54-F753-B93E-4631-6EFAEA2D8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2F5C5-A40E-FCF1-6878-766C41BDB4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F62F2-508B-9B30-AF66-DEA30F41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6E9CE3-B5CB-BD56-5B85-14E53D508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63DE13-3B16-248C-8572-7EE72B1E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5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6F2C0-9FAB-B53F-0CDD-2129F94E5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07D4D8-0DEB-3D2E-2484-E962FACFF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79CD1-DB2D-9808-CECE-6F82DB90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E7301-BDC0-E62F-A77C-080508D8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01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475541-9DA7-51CD-35B6-9E72871E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8E5EFC-09EF-175B-FB6C-BF34EAFA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337A8-EA98-54DC-79B9-82ADB9D08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EEC9D-3734-94BC-F411-7E5F96B2F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CF006-0703-9D62-B184-16DC0C333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54741-AE83-4554-1793-2D3D73CCE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77ECE-F9ED-EA47-1E9A-01C82885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BC7CA-8186-D1C5-2864-03D7DC44B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E5589-4470-68DF-F46C-3BA11401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8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4B69-6839-F490-BEBB-2859DD428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B90494-123D-2E9E-D1AC-AF47F09A9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0E4BD-D099-E40E-F66F-775C3E8F8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FF378-FD9E-A6CC-3706-2CA93B2D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E1FBF-856E-D86D-80F4-4281051F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4B6F44-C0D5-F01E-CE52-D2B5B34D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19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B0A67-613E-1ECE-10A2-762C4E710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3F10B-9F29-547F-A69C-860DD7EC8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DED88-C5A0-5AE2-0D42-01B655FE7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A7BC8-718C-A533-64F9-C7B03E6C7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9B671-4836-2577-1E5C-1291C2108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40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1B4E38-EE2F-6389-C87A-F28058463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65FE1B-2452-F5BC-C5A4-32C1D10A5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9AFB-176F-3756-F7F6-581B5D39E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D91B6-DB35-D952-0332-F1C72CE5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A6A4B-2C13-C1FA-1B86-EC01B1C8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0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B15793-1F76-47DE-6CB9-2A6845B71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F211A-025F-A46D-553C-F4A1142F0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6FCE-3A61-150D-A6FB-12A42DC79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0E863-F504-D04B-9751-A17B72EB659C}" type="datetimeFigureOut">
              <a:rPr lang="en-US" smtClean="0"/>
              <a:t>7/31/26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0CAF0-5878-7C25-086E-D2DD79D59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2FD8C-8AC7-1AE0-5680-75C16B72E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108F2-3677-C044-AF68-4C17F56F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95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5BC7-3898-25B7-EC61-7585F9EB0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9872" y="-2875109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09464-8F96-1865-BEB4-1516082BD8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903" y="7479830"/>
            <a:ext cx="9144000" cy="165576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0E0EBEB4-81D9-5EF2-62CB-F8D410162D5C}"/>
              </a:ext>
            </a:extLst>
          </p:cNvPr>
          <p:cNvSpPr/>
          <p:nvPr/>
        </p:nvSpPr>
        <p:spPr>
          <a:xfrm>
            <a:off x="4344463" y="233043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Neighborhood WatchDog</a:t>
            </a:r>
            <a:endParaRPr lang="en-US" sz="275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C2087B55-0988-BD92-5B14-AD63075881FA}"/>
              </a:ext>
            </a:extLst>
          </p:cNvPr>
          <p:cNvSpPr/>
          <p:nvPr/>
        </p:nvSpPr>
        <p:spPr>
          <a:xfrm>
            <a:off x="4344463" y="3059630"/>
            <a:ext cx="5496223" cy="1804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COS 301 Capstone — Demo 2</a:t>
            </a:r>
            <a:endParaRPr lang="en-US" sz="11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Jared Williams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•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Ange Yehouessi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•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Obed Mbaya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•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Joshua Mahabeer</a:t>
            </a: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• </a:t>
            </a:r>
            <a:r>
              <a:rPr lang="en-US" sz="11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Zaman Bassa</a:t>
            </a:r>
            <a:endParaRPr lang="en-US" sz="115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82C682D-AB85-384D-E86E-9F63C5D37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6903" y="1502026"/>
            <a:ext cx="2729515" cy="3115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6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0">
            <a:extLst>
              <a:ext uri="{FF2B5EF4-FFF2-40B4-BE49-F238E27FC236}">
                <a16:creationId xmlns:a16="http://schemas.microsoft.com/office/drawing/2014/main" id="{7CF1D759-E6B4-E3C0-7AA9-1007ED142B83}"/>
              </a:ext>
            </a:extLst>
          </p:cNvPr>
          <p:cNvSpPr/>
          <p:nvPr/>
        </p:nvSpPr>
        <p:spPr>
          <a:xfrm>
            <a:off x="6093433" y="1132175"/>
            <a:ext cx="5127171" cy="955700"/>
          </a:xfrm>
          <a:prstGeom prst="roundRect">
            <a:avLst>
              <a:gd name="adj" fmla="val 2666"/>
            </a:avLst>
          </a:prstGeom>
          <a:solidFill>
            <a:srgbClr val="1E1E1E"/>
          </a:solidFill>
          <a:ln>
            <a:solidFill>
              <a:srgbClr val="10B981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99FFBF4D-220C-D809-ECCF-B456E07AC968}"/>
              </a:ext>
            </a:extLst>
          </p:cNvPr>
          <p:cNvSpPr/>
          <p:nvPr/>
        </p:nvSpPr>
        <p:spPr>
          <a:xfrm>
            <a:off x="6093434" y="3679319"/>
            <a:ext cx="5127171" cy="955700"/>
          </a:xfrm>
          <a:prstGeom prst="roundRect">
            <a:avLst>
              <a:gd name="adj" fmla="val 2666"/>
            </a:avLst>
          </a:prstGeom>
          <a:solidFill>
            <a:srgbClr val="1E1E1E"/>
          </a:solidFill>
          <a:ln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5036D72F-7148-A3F1-F942-45F10687AFE8}"/>
              </a:ext>
            </a:extLst>
          </p:cNvPr>
          <p:cNvSpPr/>
          <p:nvPr/>
        </p:nvSpPr>
        <p:spPr>
          <a:xfrm>
            <a:off x="6093434" y="2405747"/>
            <a:ext cx="5127171" cy="955700"/>
          </a:xfrm>
          <a:prstGeom prst="roundRect">
            <a:avLst>
              <a:gd name="adj" fmla="val 2666"/>
            </a:avLst>
          </a:prstGeom>
          <a:solidFill>
            <a:srgbClr val="1E1E1E"/>
          </a:solidFill>
          <a:ln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AF9CF-D530-8CB4-B2FB-8112DE4CF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-1607826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59A50-2B2D-68F3-32B4-E9D5F96E6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343" y="7079796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02391996-98E3-6A5B-B0BB-5C0D290147E9}"/>
              </a:ext>
            </a:extLst>
          </p:cNvPr>
          <p:cNvSpPr/>
          <p:nvPr/>
        </p:nvSpPr>
        <p:spPr>
          <a:xfrm>
            <a:off x="6093433" y="360426"/>
            <a:ext cx="4667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</a:t>
            </a: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Overview</a:t>
            </a:r>
            <a:endParaRPr lang="en-US" sz="26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8CE4C964-094E-A436-4710-73B6A56FECEC}"/>
              </a:ext>
            </a:extLst>
          </p:cNvPr>
          <p:cNvSpPr/>
          <p:nvPr/>
        </p:nvSpPr>
        <p:spPr>
          <a:xfrm>
            <a:off x="6240885" y="1284796"/>
            <a:ext cx="43780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</a:t>
            </a: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5434E79-A9BE-09CE-50B8-44B957C45169}"/>
              </a:ext>
            </a:extLst>
          </p:cNvPr>
          <p:cNvSpPr/>
          <p:nvPr/>
        </p:nvSpPr>
        <p:spPr>
          <a:xfrm>
            <a:off x="6240885" y="1678708"/>
            <a:ext cx="43780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 communities: rising crime; CCTV is passive &amp; slow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77292A19-D74B-6807-0E83-30A692CA56FE}"/>
              </a:ext>
            </a:extLst>
          </p:cNvPr>
          <p:cNvSpPr/>
          <p:nvPr/>
        </p:nvSpPr>
        <p:spPr>
          <a:xfrm>
            <a:off x="6240885" y="2560505"/>
            <a:ext cx="43780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Solution</a:t>
            </a:r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8D9B624-B1B5-45A5-C3DA-C698FA04B208}"/>
              </a:ext>
            </a:extLst>
          </p:cNvPr>
          <p:cNvSpPr/>
          <p:nvPr/>
        </p:nvSpPr>
        <p:spPr>
          <a:xfrm>
            <a:off x="6238316" y="2977273"/>
            <a:ext cx="43780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Centralised platform with real-time AI detection</a:t>
            </a:r>
            <a:endParaRPr lang="en-US" sz="12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1F9A3402-1813-D1DB-D7BE-C6DAE3DBD071}"/>
              </a:ext>
            </a:extLst>
          </p:cNvPr>
          <p:cNvSpPr/>
          <p:nvPr/>
        </p:nvSpPr>
        <p:spPr>
          <a:xfrm>
            <a:off x="6238316" y="3799497"/>
            <a:ext cx="43780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</a:t>
            </a:r>
            <a:endParaRPr lang="en-US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02F5A4A7-EFB6-9B68-F93E-5BB512823155}"/>
              </a:ext>
            </a:extLst>
          </p:cNvPr>
          <p:cNvSpPr/>
          <p:nvPr/>
        </p:nvSpPr>
        <p:spPr>
          <a:xfrm>
            <a:off x="6238316" y="4205178"/>
            <a:ext cx="43780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Zone-based monitoring + instant multi-channel alerts</a:t>
            </a:r>
            <a:endParaRPr lang="en-US" sz="1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ECD0DCD5-DB19-532A-BD80-89DB947777FB}"/>
              </a:ext>
            </a:extLst>
          </p:cNvPr>
          <p:cNvSpPr/>
          <p:nvPr/>
        </p:nvSpPr>
        <p:spPr>
          <a:xfrm>
            <a:off x="6096000" y="5023512"/>
            <a:ext cx="5127171" cy="955700"/>
          </a:xfrm>
          <a:prstGeom prst="roundRect">
            <a:avLst>
              <a:gd name="adj" fmla="val 2666"/>
            </a:avLst>
          </a:prstGeom>
          <a:solidFill>
            <a:srgbClr val="1E1E1E"/>
          </a:solidFill>
          <a:ln>
            <a:solidFill>
              <a:srgbClr val="10B981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02778E9-E243-F0A4-797B-CA8940BD3940}"/>
              </a:ext>
            </a:extLst>
          </p:cNvPr>
          <p:cNvSpPr/>
          <p:nvPr/>
        </p:nvSpPr>
        <p:spPr>
          <a:xfrm>
            <a:off x="6240885" y="5132242"/>
            <a:ext cx="4378077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 Stack</a:t>
            </a:r>
            <a:endParaRPr lang="en-US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89D2BAF-6503-D3EE-9F2A-4107F5D1BCD1}"/>
              </a:ext>
            </a:extLst>
          </p:cNvPr>
          <p:cNvSpPr/>
          <p:nvPr/>
        </p:nvSpPr>
        <p:spPr>
          <a:xfrm>
            <a:off x="6240885" y="5592035"/>
            <a:ext cx="4378077" cy="228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YOLOv8 · DeepSORT · FastAPI · Next.js</a:t>
            </a:r>
            <a:endParaRPr lang="en-US" sz="12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B4E441C9-56C2-9780-AC31-D8BC4D8E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4542971" cy="681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91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4FEB57B9-597C-9D84-D185-CC90941B27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36" y="1386383"/>
            <a:ext cx="3877550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4B666F-16A5-C3F7-5749-F0C88F51A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8" y="-1710417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3BDDB-55C6-89FE-B412-9C8DB9ABA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7195910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E9CDB3-D704-E277-F6CB-A2325C40B182}"/>
              </a:ext>
            </a:extLst>
          </p:cNvPr>
          <p:cNvSpPr/>
          <p:nvPr/>
        </p:nvSpPr>
        <p:spPr>
          <a:xfrm>
            <a:off x="664028" y="722620"/>
            <a:ext cx="8096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Demo: Landing Page &amp; Help Menu</a:t>
            </a:r>
            <a:endParaRPr lang="en-US" sz="3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37BC1AB9-E271-8386-5329-9D840DE5F9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644"/>
          <a:stretch>
            <a:fillRect/>
          </a:stretch>
        </p:blipFill>
        <p:spPr>
          <a:xfrm>
            <a:off x="5296716" y="2033441"/>
            <a:ext cx="6442307" cy="281350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E6D4E229-8EB7-35A2-284B-057EA5496F09}"/>
              </a:ext>
            </a:extLst>
          </p:cNvPr>
          <p:cNvSpPr/>
          <p:nvPr/>
        </p:nvSpPr>
        <p:spPr>
          <a:xfrm>
            <a:off x="2497520" y="4713482"/>
            <a:ext cx="5598393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1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AFE217B3-E4FF-76F5-E09A-B93A3A071256}"/>
              </a:ext>
            </a:extLst>
          </p:cNvPr>
          <p:cNvSpPr/>
          <p:nvPr/>
        </p:nvSpPr>
        <p:spPr>
          <a:xfrm>
            <a:off x="861661" y="1472298"/>
            <a:ext cx="2487963" cy="623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Clean Landing Experience</a:t>
            </a:r>
            <a:endParaRPr lang="en-US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D3CE984-DA38-8085-7272-81219EEBC3D2}"/>
              </a:ext>
            </a:extLst>
          </p:cNvPr>
          <p:cNvSpPr/>
          <p:nvPr/>
        </p:nvSpPr>
        <p:spPr>
          <a:xfrm>
            <a:off x="861661" y="2027427"/>
            <a:ext cx="2487963" cy="662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Polished entry point — fast, focused, intuitive</a:t>
            </a:r>
            <a:endParaRPr lang="en-US" sz="12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93E09D44-2C58-C673-8672-50A4AE54B7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36" y="3138957"/>
            <a:ext cx="3877550" cy="1325563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56AA1C0F-87EC-38D9-91D0-67F79D02BFDE}"/>
              </a:ext>
            </a:extLst>
          </p:cNvPr>
          <p:cNvSpPr/>
          <p:nvPr/>
        </p:nvSpPr>
        <p:spPr>
          <a:xfrm>
            <a:off x="910563" y="3300585"/>
            <a:ext cx="2487963" cy="311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Quick Navigation</a:t>
            </a:r>
            <a:endParaRPr lang="en-US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9EBEB30-905C-4CC8-3CDD-67D2E22D1B88}"/>
              </a:ext>
            </a:extLst>
          </p:cNvPr>
          <p:cNvSpPr/>
          <p:nvPr/>
        </p:nvSpPr>
        <p:spPr>
          <a:xfrm>
            <a:off x="910563" y="3773907"/>
            <a:ext cx="2487963" cy="331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Direct access to all core features</a:t>
            </a:r>
            <a:endParaRPr lang="en-US" sz="120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74EC4BBD-7343-6115-C5E6-B25D7E313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736" y="4814204"/>
            <a:ext cx="3877550" cy="1325563"/>
          </a:xfrm>
          <a:prstGeom prst="rect">
            <a:avLst/>
          </a:prstGeom>
        </p:spPr>
      </p:pic>
      <p:sp>
        <p:nvSpPr>
          <p:cNvPr id="14" name="Text 6">
            <a:extLst>
              <a:ext uri="{FF2B5EF4-FFF2-40B4-BE49-F238E27FC236}">
                <a16:creationId xmlns:a16="http://schemas.microsoft.com/office/drawing/2014/main" id="{72BF91BB-4553-5392-94EA-79DD6BB3D081}"/>
              </a:ext>
            </a:extLst>
          </p:cNvPr>
          <p:cNvSpPr/>
          <p:nvPr/>
        </p:nvSpPr>
        <p:spPr>
          <a:xfrm>
            <a:off x="910563" y="4975831"/>
            <a:ext cx="2487963" cy="311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In-App Help Menu</a:t>
            </a:r>
            <a:endParaRPr lang="en-US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0B087C21-D2C4-FEEE-5748-300C15A83EC4}"/>
              </a:ext>
            </a:extLst>
          </p:cNvPr>
          <p:cNvSpPr/>
          <p:nvPr/>
        </p:nvSpPr>
        <p:spPr>
          <a:xfrm>
            <a:off x="910562" y="5464099"/>
            <a:ext cx="2487963" cy="331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Guided onboarding — no friction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3764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BF76D-069A-EFFD-4741-565B773BD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52361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9CF6F-E88F-1FAD-F16F-B7CC476E1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23339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E4BBC9A-737C-8383-8453-576D2F93F893}"/>
              </a:ext>
            </a:extLst>
          </p:cNvPr>
          <p:cNvSpPr/>
          <p:nvPr/>
        </p:nvSpPr>
        <p:spPr>
          <a:xfrm>
            <a:off x="523576" y="263485"/>
            <a:ext cx="8096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Feature 1: Creating a Neighbourhood</a:t>
            </a:r>
            <a:endParaRPr lang="en-US" sz="2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E6EA8C57-D06D-99EF-1790-3D5C20964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937" y="2130394"/>
            <a:ext cx="720435" cy="720435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B2DB8DDC-87E4-A3B6-342F-B6EE859EF5B3}"/>
              </a:ext>
            </a:extLst>
          </p:cNvPr>
          <p:cNvSpPr/>
          <p:nvPr/>
        </p:nvSpPr>
        <p:spPr>
          <a:xfrm>
            <a:off x="523577" y="3010197"/>
            <a:ext cx="3446200" cy="52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Base Unit</a:t>
            </a:r>
            <a:endParaRPr lang="en-US" sz="13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B2026D0-AF13-8757-23EF-E69F552FA610}"/>
              </a:ext>
            </a:extLst>
          </p:cNvPr>
          <p:cNvSpPr/>
          <p:nvPr/>
        </p:nvSpPr>
        <p:spPr>
          <a:xfrm>
            <a:off x="523577" y="3319909"/>
            <a:ext cx="3446200" cy="115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 creates neighbourhood as the foundational unit</a:t>
            </a:r>
            <a:endParaRPr lang="en-US" sz="11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FCC18975-CAC9-C29F-AC4E-2E4B2E5DD0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75565" y="2130395"/>
            <a:ext cx="720435" cy="720435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533D8842-0B35-4035-27A9-9161FE05C888}"/>
              </a:ext>
            </a:extLst>
          </p:cNvPr>
          <p:cNvSpPr/>
          <p:nvPr/>
        </p:nvSpPr>
        <p:spPr>
          <a:xfrm>
            <a:off x="4571999" y="3033354"/>
            <a:ext cx="3446200" cy="52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Configure</a:t>
            </a:r>
            <a:endParaRPr lang="en-US" sz="13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309CBAB-C58A-CC83-D059-D7905F2B54DB}"/>
              </a:ext>
            </a:extLst>
          </p:cNvPr>
          <p:cNvSpPr/>
          <p:nvPr/>
        </p:nvSpPr>
        <p:spPr>
          <a:xfrm>
            <a:off x="4571999" y="3343066"/>
            <a:ext cx="3446200" cy="57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Set name, location &amp; member roles</a:t>
            </a:r>
            <a:endParaRPr lang="en-US" sz="115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362E2036-7711-3B34-9013-122E8D6786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262869" y="2130396"/>
            <a:ext cx="720435" cy="720435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11F22DF9-E6DA-F49A-BD28-43153C27F3F0}"/>
              </a:ext>
            </a:extLst>
          </p:cNvPr>
          <p:cNvSpPr/>
          <p:nvPr/>
        </p:nvSpPr>
        <p:spPr>
          <a:xfrm>
            <a:off x="8620422" y="3056192"/>
            <a:ext cx="3446200" cy="52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Invite Members</a:t>
            </a:r>
            <a:endParaRPr lang="en-US" sz="135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1FBE205F-47FC-3BCA-8330-1F3A1877F6AD}"/>
              </a:ext>
            </a:extLst>
          </p:cNvPr>
          <p:cNvSpPr/>
          <p:nvPr/>
        </p:nvSpPr>
        <p:spPr>
          <a:xfrm>
            <a:off x="8620422" y="3365904"/>
            <a:ext cx="3446200" cy="576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can join using a join code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851623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14C8-89E8-6C5E-26F0-5AD5BEC98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3332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33839-B312-9F03-405F-3D0E761F1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86" y="7558768"/>
            <a:ext cx="10515600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260BE5B-7BBC-45A6-688C-EE1821856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1120750"/>
            <a:ext cx="5159127" cy="2902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E434620-736F-740C-BC66-F78477D83AF7}"/>
              </a:ext>
            </a:extLst>
          </p:cNvPr>
          <p:cNvSpPr/>
          <p:nvPr/>
        </p:nvSpPr>
        <p:spPr>
          <a:xfrm>
            <a:off x="5983932" y="635273"/>
            <a:ext cx="2641178" cy="1072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Feature 2: Edge Agent Setup &amp; Pairing</a:t>
            </a:r>
            <a:endParaRPr lang="en-US" sz="22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5EF5E1F-CE93-4C07-EC16-09CB37AD41C8}"/>
              </a:ext>
            </a:extLst>
          </p:cNvPr>
          <p:cNvSpPr/>
          <p:nvPr/>
        </p:nvSpPr>
        <p:spPr>
          <a:xfrm>
            <a:off x="5983932" y="1819052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0D49DF7-C7F3-778D-066B-6719FF141B64}"/>
              </a:ext>
            </a:extLst>
          </p:cNvPr>
          <p:cNvSpPr/>
          <p:nvPr/>
        </p:nvSpPr>
        <p:spPr>
          <a:xfrm>
            <a:off x="5983932" y="2011263"/>
            <a:ext cx="2641178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6056ABB-DBB6-64C1-0DAB-99D631D8129B}"/>
              </a:ext>
            </a:extLst>
          </p:cNvPr>
          <p:cNvSpPr/>
          <p:nvPr/>
        </p:nvSpPr>
        <p:spPr>
          <a:xfrm>
            <a:off x="5983932" y="2100560"/>
            <a:ext cx="264117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Connect Device</a:t>
            </a:r>
            <a:endParaRPr lang="en-US" sz="11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E3ED3E4-EDD0-CBF7-5623-DB86597E0F1F}"/>
              </a:ext>
            </a:extLst>
          </p:cNvPr>
          <p:cNvSpPr/>
          <p:nvPr/>
        </p:nvSpPr>
        <p:spPr>
          <a:xfrm>
            <a:off x="5983932" y="2378050"/>
            <a:ext cx="264117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Attach physical camera or edge hardware</a:t>
            </a:r>
            <a:endParaRPr lang="en-US" sz="9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459E515-FFC2-0F11-F424-1D050CB83F82}"/>
              </a:ext>
            </a:extLst>
          </p:cNvPr>
          <p:cNvSpPr/>
          <p:nvPr/>
        </p:nvSpPr>
        <p:spPr>
          <a:xfrm>
            <a:off x="5983932" y="2744242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3E50E7F3-0396-3D1B-C0D2-1E47AA186840}"/>
              </a:ext>
            </a:extLst>
          </p:cNvPr>
          <p:cNvSpPr/>
          <p:nvPr/>
        </p:nvSpPr>
        <p:spPr>
          <a:xfrm>
            <a:off x="5983932" y="2936453"/>
            <a:ext cx="2641178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3E72AE03-207D-6A2A-D966-0B6631787290}"/>
              </a:ext>
            </a:extLst>
          </p:cNvPr>
          <p:cNvSpPr/>
          <p:nvPr/>
        </p:nvSpPr>
        <p:spPr>
          <a:xfrm>
            <a:off x="5983932" y="3025750"/>
            <a:ext cx="264117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Secure Pairing</a:t>
            </a:r>
            <a:endParaRPr lang="en-US" sz="11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AECC4C72-1DCD-E2E7-CF4C-8876FA5C303C}"/>
              </a:ext>
            </a:extLst>
          </p:cNvPr>
          <p:cNvSpPr/>
          <p:nvPr/>
        </p:nvSpPr>
        <p:spPr>
          <a:xfrm>
            <a:off x="5983932" y="3303240"/>
            <a:ext cx="264117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Authenticated handshake with platform</a:t>
            </a:r>
            <a:endParaRPr lang="en-US" sz="9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E4FDD77-B5CA-7C04-DDEF-6C35388580DE}"/>
              </a:ext>
            </a:extLst>
          </p:cNvPr>
          <p:cNvSpPr/>
          <p:nvPr/>
        </p:nvSpPr>
        <p:spPr>
          <a:xfrm>
            <a:off x="5983932" y="3669432"/>
            <a:ext cx="243111" cy="151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7A125CE8-33C3-BF0E-8589-6C5762BADBEE}"/>
              </a:ext>
            </a:extLst>
          </p:cNvPr>
          <p:cNvSpPr/>
          <p:nvPr/>
        </p:nvSpPr>
        <p:spPr>
          <a:xfrm>
            <a:off x="5983932" y="3861643"/>
            <a:ext cx="2641178" cy="14288"/>
          </a:xfrm>
          <a:prstGeom prst="rect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2539A5DD-6C15-2B77-B70E-64E995FAC46E}"/>
              </a:ext>
            </a:extLst>
          </p:cNvPr>
          <p:cNvSpPr/>
          <p:nvPr/>
        </p:nvSpPr>
        <p:spPr>
          <a:xfrm>
            <a:off x="5983932" y="3950940"/>
            <a:ext cx="2641178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Frame Ingestion</a:t>
            </a:r>
            <a:endParaRPr lang="en-US" sz="11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715F8EA0-615B-2422-2167-3E86C16E17A8}"/>
              </a:ext>
            </a:extLst>
          </p:cNvPr>
          <p:cNvSpPr/>
          <p:nvPr/>
        </p:nvSpPr>
        <p:spPr>
          <a:xfrm>
            <a:off x="5983932" y="4228430"/>
            <a:ext cx="2641178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video stream begins immediately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704684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C7A95-FA39-EED0-8ACE-478DAAAA5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50761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11CA2-A87D-7D31-78AC-1015A5197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400" y="7428139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DF3671D-3FD7-5B81-05F7-3043F9224FF4}"/>
              </a:ext>
            </a:extLst>
          </p:cNvPr>
          <p:cNvSpPr/>
          <p:nvPr/>
        </p:nvSpPr>
        <p:spPr>
          <a:xfrm>
            <a:off x="523577" y="422002"/>
            <a:ext cx="8096845" cy="866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Feature 3: Zone (Frame) Configuration</a:t>
            </a:r>
            <a:endParaRPr lang="en-US" sz="27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4A7150F-90C0-8EB7-9402-41EF1C39724A}"/>
              </a:ext>
            </a:extLst>
          </p:cNvPr>
          <p:cNvSpPr/>
          <p:nvPr/>
        </p:nvSpPr>
        <p:spPr>
          <a:xfrm>
            <a:off x="523577" y="1923678"/>
            <a:ext cx="2600325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It Does</a:t>
            </a:r>
            <a:endParaRPr lang="en-US" sz="135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AE46E4D-95E6-E636-0D96-26DE9FFEC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93" y="2310594"/>
            <a:ext cx="220861" cy="220861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357A3EBD-F320-499E-5D42-915068868096}"/>
              </a:ext>
            </a:extLst>
          </p:cNvPr>
          <p:cNvSpPr/>
          <p:nvPr/>
        </p:nvSpPr>
        <p:spPr>
          <a:xfrm>
            <a:off x="1002209" y="2303264"/>
            <a:ext cx="2121694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Define monitored zones within camera feed</a:t>
            </a:r>
            <a:endParaRPr lang="en-US" sz="115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5517E58A-54AB-FAEC-6A6C-CB3121099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93" y="3067980"/>
            <a:ext cx="220861" cy="220861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7460F029-2688-3634-E521-897814D94477}"/>
              </a:ext>
            </a:extLst>
          </p:cNvPr>
          <p:cNvSpPr/>
          <p:nvPr/>
        </p:nvSpPr>
        <p:spPr>
          <a:xfrm>
            <a:off x="1002209" y="3060650"/>
            <a:ext cx="2121694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Target detection to specific risk areas</a:t>
            </a:r>
            <a:endParaRPr lang="en-US" sz="11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1DD8F151-1919-BEAE-AC11-CB2E6E8FA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793" y="3825367"/>
            <a:ext cx="220861" cy="220861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2BCED308-D5AD-3462-256E-62118CFF1D62}"/>
              </a:ext>
            </a:extLst>
          </p:cNvPr>
          <p:cNvSpPr/>
          <p:nvPr/>
        </p:nvSpPr>
        <p:spPr>
          <a:xfrm>
            <a:off x="1002209" y="3818037"/>
            <a:ext cx="2121694" cy="467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 false positives, sharpen focus</a:t>
            </a:r>
            <a:endParaRPr lang="en-US" sz="11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B2F576D5-AB45-A27D-775D-402C0C83D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936" y="1668810"/>
            <a:ext cx="5137175" cy="288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8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8013-9042-3DC4-199C-A7FF82984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3332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4899B-828F-2C98-08B0-A1E0142BF3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7510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94C11B53-07F7-AC01-797A-44661BB59BCA}"/>
              </a:ext>
            </a:extLst>
          </p:cNvPr>
          <p:cNvSpPr/>
          <p:nvPr/>
        </p:nvSpPr>
        <p:spPr>
          <a:xfrm>
            <a:off x="523577" y="453554"/>
            <a:ext cx="4667845" cy="1237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Feature 4: Receiving Incoming Alerts</a:t>
            </a:r>
            <a:endParaRPr lang="en-US" sz="25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BD904E6E-D908-DB19-61A2-CF4A921A4E9C}"/>
              </a:ext>
            </a:extLst>
          </p:cNvPr>
          <p:cNvSpPr/>
          <p:nvPr/>
        </p:nvSpPr>
        <p:spPr>
          <a:xfrm>
            <a:off x="523577" y="1888182"/>
            <a:ext cx="2268141" cy="1335137"/>
          </a:xfrm>
          <a:prstGeom prst="roundRect">
            <a:avLst>
              <a:gd name="adj" fmla="val 157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F5F31B62-10C0-3869-28AF-6E94B271CCAD}"/>
              </a:ext>
            </a:extLst>
          </p:cNvPr>
          <p:cNvSpPr/>
          <p:nvPr/>
        </p:nvSpPr>
        <p:spPr>
          <a:xfrm>
            <a:off x="663773" y="2028379"/>
            <a:ext cx="420737" cy="42073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E53408ED-3DF5-F768-94D8-9DE963263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487" y="2144092"/>
            <a:ext cx="189309" cy="189309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DE69891A-4B21-C3E0-FE69-C33B07E47A1A}"/>
              </a:ext>
            </a:extLst>
          </p:cNvPr>
          <p:cNvSpPr/>
          <p:nvPr/>
        </p:nvSpPr>
        <p:spPr>
          <a:xfrm>
            <a:off x="663773" y="2580605"/>
            <a:ext cx="1987748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Trigger</a:t>
            </a:r>
            <a:endParaRPr lang="en-US" sz="12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3CBAE97D-7D4A-6D34-C9CB-D65713BDB9F3}"/>
              </a:ext>
            </a:extLst>
          </p:cNvPr>
          <p:cNvSpPr/>
          <p:nvPr/>
        </p:nvSpPr>
        <p:spPr>
          <a:xfrm>
            <a:off x="663773" y="2865760"/>
            <a:ext cx="198774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Detection fires instant alert</a:t>
            </a:r>
            <a:endParaRPr lang="en-US" sz="11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BC9AD91-0F4A-9FBE-B3FE-962FAD469433}"/>
              </a:ext>
            </a:extLst>
          </p:cNvPr>
          <p:cNvSpPr/>
          <p:nvPr/>
        </p:nvSpPr>
        <p:spPr>
          <a:xfrm>
            <a:off x="2923208" y="1888182"/>
            <a:ext cx="2268215" cy="1335137"/>
          </a:xfrm>
          <a:prstGeom prst="roundRect">
            <a:avLst>
              <a:gd name="adj" fmla="val 157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7A60124-89BE-718B-5C1B-BF9483674F5B}"/>
              </a:ext>
            </a:extLst>
          </p:cNvPr>
          <p:cNvSpPr/>
          <p:nvPr/>
        </p:nvSpPr>
        <p:spPr>
          <a:xfrm>
            <a:off x="3063404" y="2028379"/>
            <a:ext cx="420737" cy="42073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06C677F8-0D4F-A1B4-51C7-5A001819C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9118" y="2144092"/>
            <a:ext cx="189309" cy="189309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0ADD87E3-F529-B0D9-419E-1AF7BA0A1CAB}"/>
              </a:ext>
            </a:extLst>
          </p:cNvPr>
          <p:cNvSpPr/>
          <p:nvPr/>
        </p:nvSpPr>
        <p:spPr>
          <a:xfrm>
            <a:off x="3063404" y="2580605"/>
            <a:ext cx="198782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Multi-Channel</a:t>
            </a:r>
            <a:endParaRPr lang="en-US" sz="12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1BA03D1-1E38-A2E1-FB23-3FF2941452D9}"/>
              </a:ext>
            </a:extLst>
          </p:cNvPr>
          <p:cNvSpPr/>
          <p:nvPr/>
        </p:nvSpPr>
        <p:spPr>
          <a:xfrm>
            <a:off x="3063404" y="2865760"/>
            <a:ext cx="198782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WhatsApp + Email notifications</a:t>
            </a:r>
            <a:endParaRPr lang="en-US" sz="11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0A411FAE-72E0-8B65-48E0-5269F2AE799A}"/>
              </a:ext>
            </a:extLst>
          </p:cNvPr>
          <p:cNvSpPr/>
          <p:nvPr/>
        </p:nvSpPr>
        <p:spPr>
          <a:xfrm>
            <a:off x="523577" y="3354809"/>
            <a:ext cx="4667845" cy="1335137"/>
          </a:xfrm>
          <a:prstGeom prst="roundRect">
            <a:avLst>
              <a:gd name="adj" fmla="val 1576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6531B33C-5225-5796-DAAE-6044ED097701}"/>
              </a:ext>
            </a:extLst>
          </p:cNvPr>
          <p:cNvSpPr/>
          <p:nvPr/>
        </p:nvSpPr>
        <p:spPr>
          <a:xfrm>
            <a:off x="663773" y="3495005"/>
            <a:ext cx="420737" cy="420737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7B4A3A28-D633-6B53-69B1-4885E7D9F2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9487" y="3610719"/>
            <a:ext cx="189309" cy="189309"/>
          </a:xfrm>
          <a:prstGeom prst="rect">
            <a:avLst/>
          </a:prstGeom>
        </p:spPr>
      </p:pic>
      <p:sp>
        <p:nvSpPr>
          <p:cNvPr id="18" name="Text 11">
            <a:extLst>
              <a:ext uri="{FF2B5EF4-FFF2-40B4-BE49-F238E27FC236}">
                <a16:creationId xmlns:a16="http://schemas.microsoft.com/office/drawing/2014/main" id="{82EE20A8-3380-C285-1E7C-EA62DB8ABABA}"/>
              </a:ext>
            </a:extLst>
          </p:cNvPr>
          <p:cNvSpPr/>
          <p:nvPr/>
        </p:nvSpPr>
        <p:spPr>
          <a:xfrm>
            <a:off x="663773" y="4047232"/>
            <a:ext cx="43874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Incident Detail</a:t>
            </a:r>
            <a:endParaRPr lang="en-US" sz="12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A7F1B2A5-1A06-6BBF-E888-3BA7958F0468}"/>
              </a:ext>
            </a:extLst>
          </p:cNvPr>
          <p:cNvSpPr/>
          <p:nvPr/>
        </p:nvSpPr>
        <p:spPr>
          <a:xfrm>
            <a:off x="663773" y="4332387"/>
            <a:ext cx="4387453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context + timestamp included</a:t>
            </a:r>
            <a:endParaRPr lang="en-US" sz="110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234D730F-1DE8-3E95-D2CC-71A3EA3705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5892" y="26919"/>
            <a:ext cx="4536108" cy="680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87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36647-D808-4466-37E8-36F2116B9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08818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B38C6-3049-B40D-1364-00D8905EB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7413625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843641C-B37A-A505-4872-531991007825}"/>
              </a:ext>
            </a:extLst>
          </p:cNvPr>
          <p:cNvSpPr/>
          <p:nvPr/>
        </p:nvSpPr>
        <p:spPr>
          <a:xfrm>
            <a:off x="523577" y="445294"/>
            <a:ext cx="8096845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Core Feature 5: Retrieving Past Alert Footage</a:t>
            </a:r>
            <a:endParaRPr lang="en-US" sz="22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5F99BF57-91E8-4AA8-B310-2FFE5336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1542"/>
          <a:stretch>
            <a:fillRect/>
          </a:stretch>
        </p:blipFill>
        <p:spPr>
          <a:xfrm>
            <a:off x="523577" y="1628269"/>
            <a:ext cx="6180958" cy="3402007"/>
          </a:xfrm>
          <a:prstGeom prst="rect">
            <a:avLst/>
          </a:prstGeom>
        </p:spPr>
      </p:pic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013892F2-F469-4595-052A-BEB26F146B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0657" y="1262422"/>
            <a:ext cx="2637383" cy="1099542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4152E203-140A-33A0-FC61-5C5408B3F6CA}"/>
              </a:ext>
            </a:extLst>
          </p:cNvPr>
          <p:cNvSpPr/>
          <p:nvPr/>
        </p:nvSpPr>
        <p:spPr>
          <a:xfrm>
            <a:off x="9405008" y="1355291"/>
            <a:ext cx="148605" cy="185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7662E0D-D15A-1996-FD64-BF71209F1CCB}"/>
              </a:ext>
            </a:extLst>
          </p:cNvPr>
          <p:cNvSpPr/>
          <p:nvPr/>
        </p:nvSpPr>
        <p:spPr>
          <a:xfrm>
            <a:off x="8298769" y="1757945"/>
            <a:ext cx="2361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Search by Date/Time</a:t>
            </a:r>
            <a:endParaRPr lang="en-US" sz="11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183AEB9-B063-D7EA-12CD-572D24E16E3E}"/>
              </a:ext>
            </a:extLst>
          </p:cNvPr>
          <p:cNvSpPr/>
          <p:nvPr/>
        </p:nvSpPr>
        <p:spPr>
          <a:xfrm>
            <a:off x="8298769" y="2042653"/>
            <a:ext cx="23611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Look up specific incident windows</a:t>
            </a:r>
            <a:endParaRPr lang="en-US" sz="95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33E29D46-7948-F90D-EEE0-4EFCAD462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0657" y="2464507"/>
            <a:ext cx="2637383" cy="1099542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C1C9B7CA-8E97-FEFB-F37C-4AA34999DB73}"/>
              </a:ext>
            </a:extLst>
          </p:cNvPr>
          <p:cNvSpPr/>
          <p:nvPr/>
        </p:nvSpPr>
        <p:spPr>
          <a:xfrm>
            <a:off x="9405008" y="2557375"/>
            <a:ext cx="148605" cy="185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535C754-DFB9-56F9-FBCB-A845CD1818E0}"/>
              </a:ext>
            </a:extLst>
          </p:cNvPr>
          <p:cNvSpPr/>
          <p:nvPr/>
        </p:nvSpPr>
        <p:spPr>
          <a:xfrm>
            <a:off x="8298769" y="2960030"/>
            <a:ext cx="2361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View Footage</a:t>
            </a:r>
            <a:endParaRPr lang="en-US" sz="11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EC613C2-A52A-C392-04F9-D3A5F922A10B}"/>
              </a:ext>
            </a:extLst>
          </p:cNvPr>
          <p:cNvSpPr/>
          <p:nvPr/>
        </p:nvSpPr>
        <p:spPr>
          <a:xfrm>
            <a:off x="8298769" y="3244738"/>
            <a:ext cx="23611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Associated camera clip retrieved instantly</a:t>
            </a:r>
            <a:endParaRPr lang="en-US" sz="950" dirty="0"/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05510340-728C-8D54-43CE-F12671314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60657" y="3794510"/>
            <a:ext cx="2637383" cy="1099542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93B56848-EBEB-0CA4-6178-212FFBDFDC51}"/>
              </a:ext>
            </a:extLst>
          </p:cNvPr>
          <p:cNvSpPr/>
          <p:nvPr/>
        </p:nvSpPr>
        <p:spPr>
          <a:xfrm>
            <a:off x="9405008" y="3759460"/>
            <a:ext cx="148605" cy="185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DFF0B1A7-8178-C684-8412-747441690D31}"/>
              </a:ext>
            </a:extLst>
          </p:cNvPr>
          <p:cNvSpPr/>
          <p:nvPr/>
        </p:nvSpPr>
        <p:spPr>
          <a:xfrm>
            <a:off x="8298769" y="4162115"/>
            <a:ext cx="236115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History</a:t>
            </a:r>
            <a:endParaRPr lang="en-US" sz="11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7C0BC6FC-EA29-E09C-1F66-52E898D6F9C8}"/>
              </a:ext>
            </a:extLst>
          </p:cNvPr>
          <p:cNvSpPr/>
          <p:nvPr/>
        </p:nvSpPr>
        <p:spPr>
          <a:xfrm>
            <a:off x="8298769" y="4446823"/>
            <a:ext cx="236115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Full incident log with audit trail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215179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B7EB1-4183-6646-C962-67663C82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6527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DC252-7D09-EFCE-C3C5-1821E9D8F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7341054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DD9C11E5-A826-51FE-806D-D8001CA0F7C5}"/>
              </a:ext>
            </a:extLst>
          </p:cNvPr>
          <p:cNvSpPr/>
          <p:nvPr/>
        </p:nvSpPr>
        <p:spPr>
          <a:xfrm>
            <a:off x="1055172" y="568954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CI/CD &amp; Testing</a:t>
            </a:r>
            <a:endParaRPr lang="en-US" sz="255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7CD9CA7A-FA6D-5521-00B5-07602B072CA9}"/>
              </a:ext>
            </a:extLst>
          </p:cNvPr>
          <p:cNvSpPr/>
          <p:nvPr/>
        </p:nvSpPr>
        <p:spPr>
          <a:xfrm>
            <a:off x="838200" y="1457457"/>
            <a:ext cx="4681165" cy="3943086"/>
          </a:xfrm>
          <a:prstGeom prst="roundRect">
            <a:avLst>
              <a:gd name="adj" fmla="val 571"/>
            </a:avLst>
          </a:prstGeom>
          <a:solidFill>
            <a:srgbClr val="1E1E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8F1BD44-79E3-ADDB-B76C-AD636897D11A}"/>
              </a:ext>
            </a:extLst>
          </p:cNvPr>
          <p:cNvSpPr/>
          <p:nvPr/>
        </p:nvSpPr>
        <p:spPr>
          <a:xfrm>
            <a:off x="976090" y="1584557"/>
            <a:ext cx="4364663" cy="22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 Quality Gate</a:t>
            </a:r>
            <a:endParaRPr lang="en-US" sz="125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B8C8999-C1D4-6D01-0E9F-164EFF56AF42}"/>
              </a:ext>
            </a:extLst>
          </p:cNvPr>
          <p:cNvSpPr/>
          <p:nvPr/>
        </p:nvSpPr>
        <p:spPr>
          <a:xfrm>
            <a:off x="976090" y="2006261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BD887DA-3072-E926-6656-FFE77F6B0BEC}"/>
              </a:ext>
            </a:extLst>
          </p:cNvPr>
          <p:cNvSpPr/>
          <p:nvPr/>
        </p:nvSpPr>
        <p:spPr>
          <a:xfrm>
            <a:off x="1172096" y="1930433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Lint: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ruff (Python), ESLint (frontend)</a:t>
            </a:r>
            <a:endParaRPr lang="en-US" sz="10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46E1DD9-0E43-841D-4B6E-A453DD06B3FA}"/>
              </a:ext>
            </a:extLst>
          </p:cNvPr>
          <p:cNvSpPr/>
          <p:nvPr/>
        </p:nvSpPr>
        <p:spPr>
          <a:xfrm>
            <a:off x="976090" y="2472465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C66368-EB78-B7B4-D72A-36F0522BE0FB}"/>
              </a:ext>
            </a:extLst>
          </p:cNvPr>
          <p:cNvSpPr/>
          <p:nvPr/>
        </p:nvSpPr>
        <p:spPr>
          <a:xfrm>
            <a:off x="1172096" y="2396637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Type check: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mypy</a:t>
            </a:r>
            <a:endParaRPr lang="en-US" sz="105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7C19411-702A-A389-827A-F947F331C152}"/>
              </a:ext>
            </a:extLst>
          </p:cNvPr>
          <p:cNvSpPr/>
          <p:nvPr/>
        </p:nvSpPr>
        <p:spPr>
          <a:xfrm>
            <a:off x="976090" y="2938669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B6278A9-FB51-D3A6-5233-149DBECC75F7}"/>
              </a:ext>
            </a:extLst>
          </p:cNvPr>
          <p:cNvSpPr/>
          <p:nvPr/>
        </p:nvSpPr>
        <p:spPr>
          <a:xfrm>
            <a:off x="1172096" y="2862841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Security: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pip-audit</a:t>
            </a:r>
            <a:endParaRPr lang="en-US" sz="10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6EC64BB8-AB99-666C-C95E-FD1375C515D3}"/>
              </a:ext>
            </a:extLst>
          </p:cNvPr>
          <p:cNvSpPr/>
          <p:nvPr/>
        </p:nvSpPr>
        <p:spPr>
          <a:xfrm>
            <a:off x="976090" y="3404873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08BD0FB-340E-16CF-1A42-70BCD1492015}"/>
              </a:ext>
            </a:extLst>
          </p:cNvPr>
          <p:cNvSpPr/>
          <p:nvPr/>
        </p:nvSpPr>
        <p:spPr>
          <a:xfrm>
            <a:off x="1172096" y="3329046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Tests: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pytest, Jest, Playwright</a:t>
            </a:r>
            <a:endParaRPr lang="en-US" sz="10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0029B324-8222-97FB-2116-CDD21CBF8277}"/>
              </a:ext>
            </a:extLst>
          </p:cNvPr>
          <p:cNvSpPr/>
          <p:nvPr/>
        </p:nvSpPr>
        <p:spPr>
          <a:xfrm>
            <a:off x="976090" y="3871078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3733DB8-BB4F-2FD4-8036-A74BE53BC610}"/>
              </a:ext>
            </a:extLst>
          </p:cNvPr>
          <p:cNvSpPr/>
          <p:nvPr/>
        </p:nvSpPr>
        <p:spPr>
          <a:xfrm>
            <a:off x="1172096" y="3795250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Coverage: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Uploaded to Codecov</a:t>
            </a:r>
            <a:endParaRPr lang="en-US" sz="105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EF576A1-E49E-E36F-3316-938A56551590}"/>
              </a:ext>
            </a:extLst>
          </p:cNvPr>
          <p:cNvSpPr/>
          <p:nvPr/>
        </p:nvSpPr>
        <p:spPr>
          <a:xfrm>
            <a:off x="976090" y="4337282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238D76A-ECC9-5AA7-0FAA-F37621AE182F}"/>
              </a:ext>
            </a:extLst>
          </p:cNvPr>
          <p:cNvSpPr/>
          <p:nvPr/>
        </p:nvSpPr>
        <p:spPr>
          <a:xfrm>
            <a:off x="1172096" y="4261454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Build: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Frontend build check</a:t>
            </a:r>
            <a:endParaRPr lang="en-US" sz="105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2B4452E-5C66-99C3-13A1-AC4109DC8905}"/>
              </a:ext>
            </a:extLst>
          </p:cNvPr>
          <p:cNvSpPr/>
          <p:nvPr/>
        </p:nvSpPr>
        <p:spPr>
          <a:xfrm>
            <a:off x="976090" y="4803486"/>
            <a:ext cx="79082" cy="74950"/>
          </a:xfrm>
          <a:prstGeom prst="ellipse">
            <a:avLst/>
          </a:prstGeom>
          <a:solidFill>
            <a:srgbClr val="0A98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BECA669-BD8B-5BE4-5A06-B60A74707DB7}"/>
              </a:ext>
            </a:extLst>
          </p:cNvPr>
          <p:cNvSpPr/>
          <p:nvPr/>
        </p:nvSpPr>
        <p:spPr>
          <a:xfrm>
            <a:off x="1172096" y="4727658"/>
            <a:ext cx="4139714" cy="230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Gate: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Deploy blocked if any check fails</a:t>
            </a:r>
            <a:endParaRPr lang="en-US" sz="105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04EDD55-CF9E-985F-F61E-E81DA0E2A1AD}"/>
              </a:ext>
            </a:extLst>
          </p:cNvPr>
          <p:cNvSpPr/>
          <p:nvPr/>
        </p:nvSpPr>
        <p:spPr>
          <a:xfrm>
            <a:off x="7553698" y="1793676"/>
            <a:ext cx="388017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Testing Layers </a:t>
            </a:r>
            <a:r>
              <a:rPr lang="en-US" sz="125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(Target: 80% Coverage)</a:t>
            </a:r>
            <a:endParaRPr lang="en-US" sz="125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48FCE031-782D-17AC-AA6C-9F41D18A6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698" y="2139552"/>
            <a:ext cx="1876499" cy="1067693"/>
          </a:xfrm>
          <a:prstGeom prst="rect">
            <a:avLst/>
          </a:prstGeom>
        </p:spPr>
      </p:pic>
      <p:sp>
        <p:nvSpPr>
          <p:cNvPr id="23" name="Text 18">
            <a:extLst>
              <a:ext uri="{FF2B5EF4-FFF2-40B4-BE49-F238E27FC236}">
                <a16:creationId xmlns:a16="http://schemas.microsoft.com/office/drawing/2014/main" id="{2505275B-A74E-55AC-A7F1-9C76262E3A53}"/>
              </a:ext>
            </a:extLst>
          </p:cNvPr>
          <p:cNvSpPr/>
          <p:nvPr/>
        </p:nvSpPr>
        <p:spPr>
          <a:xfrm>
            <a:off x="7786837" y="2296491"/>
            <a:ext cx="1486421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Unit</a:t>
            </a:r>
            <a:endParaRPr lang="en-US" sz="125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DF987A07-BE39-2EEC-B88E-FB51B54194A4}"/>
              </a:ext>
            </a:extLst>
          </p:cNvPr>
          <p:cNvSpPr/>
          <p:nvPr/>
        </p:nvSpPr>
        <p:spPr>
          <a:xfrm>
            <a:off x="7786837" y="2626443"/>
            <a:ext cx="1486421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Service logic + Pydantic schemas, mocked DB</a:t>
            </a:r>
            <a:endParaRPr lang="en-US" sz="1050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1DE61901-AD79-393A-09BD-757DD6061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7296" y="2139552"/>
            <a:ext cx="1876574" cy="1067693"/>
          </a:xfrm>
          <a:prstGeom prst="rect">
            <a:avLst/>
          </a:prstGeom>
        </p:spPr>
      </p:pic>
      <p:sp>
        <p:nvSpPr>
          <p:cNvPr id="26" name="Text 20">
            <a:extLst>
              <a:ext uri="{FF2B5EF4-FFF2-40B4-BE49-F238E27FC236}">
                <a16:creationId xmlns:a16="http://schemas.microsoft.com/office/drawing/2014/main" id="{3ED49523-DB5E-2488-7F71-8F06A5D0A232}"/>
              </a:ext>
            </a:extLst>
          </p:cNvPr>
          <p:cNvSpPr/>
          <p:nvPr/>
        </p:nvSpPr>
        <p:spPr>
          <a:xfrm>
            <a:off x="9790436" y="2296491"/>
            <a:ext cx="148649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9E79D07-1B1F-9F34-C17B-F5B0688A5FC4}"/>
              </a:ext>
            </a:extLst>
          </p:cNvPr>
          <p:cNvSpPr/>
          <p:nvPr/>
        </p:nvSpPr>
        <p:spPr>
          <a:xfrm>
            <a:off x="9790436" y="2626443"/>
            <a:ext cx="148649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FastAPI endpoints, real request/response</a:t>
            </a:r>
            <a:endParaRPr lang="en-US" sz="1050" dirty="0"/>
          </a:p>
        </p:txBody>
      </p:sp>
      <p:pic>
        <p:nvPicPr>
          <p:cNvPr id="28" name="Image 2" descr="preencoded.png">
            <a:extLst>
              <a:ext uri="{FF2B5EF4-FFF2-40B4-BE49-F238E27FC236}">
                <a16:creationId xmlns:a16="http://schemas.microsoft.com/office/drawing/2014/main" id="{51D1C462-5BF1-90EC-F898-1AB1DF055B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3698" y="3334344"/>
            <a:ext cx="1876499" cy="1067693"/>
          </a:xfrm>
          <a:prstGeom prst="rect">
            <a:avLst/>
          </a:prstGeom>
        </p:spPr>
      </p:pic>
      <p:sp>
        <p:nvSpPr>
          <p:cNvPr id="29" name="Text 22">
            <a:extLst>
              <a:ext uri="{FF2B5EF4-FFF2-40B4-BE49-F238E27FC236}">
                <a16:creationId xmlns:a16="http://schemas.microsoft.com/office/drawing/2014/main" id="{17DFC67B-19E7-738A-CA00-811D6FF50D9C}"/>
              </a:ext>
            </a:extLst>
          </p:cNvPr>
          <p:cNvSpPr/>
          <p:nvPr/>
        </p:nvSpPr>
        <p:spPr>
          <a:xfrm>
            <a:off x="7786837" y="3491284"/>
            <a:ext cx="1486421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</a:t>
            </a:r>
            <a:endParaRPr lang="en-US" sz="125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99E0A9AB-3BF2-BF35-6632-966C8925E232}"/>
              </a:ext>
            </a:extLst>
          </p:cNvPr>
          <p:cNvSpPr/>
          <p:nvPr/>
        </p:nvSpPr>
        <p:spPr>
          <a:xfrm>
            <a:off x="7786837" y="3821236"/>
            <a:ext cx="1486421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React Testing Library + Jest</a:t>
            </a:r>
            <a:endParaRPr lang="en-US" sz="1050" dirty="0"/>
          </a:p>
        </p:txBody>
      </p:sp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EEE92B64-6590-9FE2-9AD8-2879979C6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57296" y="3334344"/>
            <a:ext cx="1876574" cy="1067693"/>
          </a:xfrm>
          <a:prstGeom prst="rect">
            <a:avLst/>
          </a:prstGeom>
        </p:spPr>
      </p:pic>
      <p:sp>
        <p:nvSpPr>
          <p:cNvPr id="32" name="Text 24">
            <a:extLst>
              <a:ext uri="{FF2B5EF4-FFF2-40B4-BE49-F238E27FC236}">
                <a16:creationId xmlns:a16="http://schemas.microsoft.com/office/drawing/2014/main" id="{2828FE78-466F-2AA2-B66A-F06FC7F5EFBA}"/>
              </a:ext>
            </a:extLst>
          </p:cNvPr>
          <p:cNvSpPr/>
          <p:nvPr/>
        </p:nvSpPr>
        <p:spPr>
          <a:xfrm>
            <a:off x="9790436" y="3491284"/>
            <a:ext cx="1486495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E2E</a:t>
            </a:r>
            <a:endParaRPr lang="en-US" sz="125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30ADEDA1-01CE-C94E-3113-2D28B398A180}"/>
              </a:ext>
            </a:extLst>
          </p:cNvPr>
          <p:cNvSpPr/>
          <p:nvPr/>
        </p:nvSpPr>
        <p:spPr>
          <a:xfrm>
            <a:off x="9790436" y="3821236"/>
            <a:ext cx="148649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Playwright — full user journeys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89509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A50D-33B9-C580-BD8A-3BEE232E9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23332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Content Placeholder 5" descr="A person walking on a street at night&#10;&#10;Description automatically generated">
            <a:extLst>
              <a:ext uri="{FF2B5EF4-FFF2-40B4-BE49-F238E27FC236}">
                <a16:creationId xmlns:a16="http://schemas.microsoft.com/office/drawing/2014/main" id="{A054C904-2BE9-6C8B-8829-E294E4855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6343" y="2506663"/>
            <a:ext cx="3537417" cy="4351337"/>
          </a:xfr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8A274D8-FCCE-7973-90D9-7E30F3BCA057}"/>
              </a:ext>
            </a:extLst>
          </p:cNvPr>
          <p:cNvSpPr/>
          <p:nvPr/>
        </p:nvSpPr>
        <p:spPr>
          <a:xfrm>
            <a:off x="1872874" y="3132126"/>
            <a:ext cx="8446252" cy="593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Questions</a:t>
            </a:r>
            <a:r>
              <a:rPr lang="en-US" sz="2750" dirty="0">
                <a:ln>
                  <a:solidFill>
                    <a:srgbClr val="10B981"/>
                  </a:solidFill>
                </a:ln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?</a:t>
            </a:r>
            <a:endParaRPr lang="en-US" sz="2750" dirty="0">
              <a:ln>
                <a:solidFill>
                  <a:srgbClr val="10B981"/>
                </a:solidFill>
              </a:ln>
            </a:endParaRPr>
          </a:p>
        </p:txBody>
      </p:sp>
      <p:pic>
        <p:nvPicPr>
          <p:cNvPr id="8" name="Picture 7" descr="A white cross on a black background&#10;&#10;Description automatically generated">
            <a:extLst>
              <a:ext uri="{FF2B5EF4-FFF2-40B4-BE49-F238E27FC236}">
                <a16:creationId xmlns:a16="http://schemas.microsoft.com/office/drawing/2014/main" id="{7C289980-72B2-B926-D261-4CBD5F00B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" y="342583"/>
            <a:ext cx="2164080" cy="216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782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344</Words>
  <Application>Microsoft Macintosh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Cabin</vt:lpstr>
      <vt:lpstr>Cabin Bold</vt:lpstr>
      <vt:lpstr>Unbounded</vt:lpstr>
      <vt:lpstr>Unbounded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Z Bassa</dc:creator>
  <cp:lastModifiedBy>Mr. Z Bassa</cp:lastModifiedBy>
  <cp:revision>1</cp:revision>
  <dcterms:created xsi:type="dcterms:W3CDTF">2026-07-31T01:08:45Z</dcterms:created>
  <dcterms:modified xsi:type="dcterms:W3CDTF">2026-07-31T02:08:35Z</dcterms:modified>
</cp:coreProperties>
</file>